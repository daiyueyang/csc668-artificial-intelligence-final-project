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16933"/>
            <a:ext cx="7772400" cy="1470025"/>
          </a:xfrm>
        </p:spPr>
        <p:txBody>
          <a:bodyPr wrap="square"/>
          <a:lstStyle/>
          <a:p>
            <a:r>
              <a:rPr sz="4400" b="1" dirty="0">
                <a:solidFill>
                  <a:srgbClr val="1F3A5F"/>
                </a:solidFill>
              </a:rPr>
              <a:t>AI-Based Constrained</a:t>
            </a:r>
          </a:p>
          <a:p>
            <a:r>
              <a:rPr sz="4400" b="1" dirty="0">
                <a:solidFill>
                  <a:srgbClr val="1F3A5F"/>
                </a:solidFill>
              </a:rPr>
              <a:t>Travel Itinerary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935295"/>
            <a:ext cx="6400800" cy="1752600"/>
          </a:xfrm>
        </p:spPr>
        <p:txBody>
          <a:bodyPr/>
          <a:lstStyle/>
          <a:p>
            <a:r>
              <a:rPr sz="2200" i="1" dirty="0">
                <a:solidFill>
                  <a:srgbClr val="707070"/>
                </a:solidFill>
              </a:rPr>
              <a:t>Final Project Presentation</a:t>
            </a:r>
          </a:p>
          <a:p>
            <a:r>
              <a:rPr sz="2200" i="1" dirty="0">
                <a:solidFill>
                  <a:srgbClr val="707070"/>
                </a:solidFill>
              </a:rPr>
              <a:t>Greedy baseline vs. Beam search with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6238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5378" y="1832635"/>
            <a:ext cx="8834085" cy="3192729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Travel planning is not just about picking the most attractive places.</a:t>
            </a:r>
          </a:p>
          <a:p>
            <a:r>
              <a:rPr sz="2000" dirty="0">
                <a:solidFill>
                  <a:srgbClr val="333333"/>
                </a:solidFill>
              </a:rPr>
              <a:t>Travelers must balance several interacting factors: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Budget, daily available time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Attraction opening hours, travel time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Waiting time before an attraction opens</a:t>
            </a:r>
          </a:p>
          <a:p>
            <a:r>
              <a:rPr sz="2000" dirty="0">
                <a:solidFill>
                  <a:srgbClr val="333333"/>
                </a:solidFill>
              </a:rPr>
              <a:t>Because these factors interact, itinerary planning becomes a meaningful AI search and decision-making problem - not just preference, but also scheduling and resource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55835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2412" y="3076127"/>
            <a:ext cx="7807176" cy="2477780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Goal: produce a feasible multi-day itinerary that maximizes total satisfaction.</a:t>
            </a:r>
          </a:p>
          <a:p>
            <a:r>
              <a:rPr sz="2000" dirty="0">
                <a:solidFill>
                  <a:srgbClr val="333333"/>
                </a:solidFill>
              </a:rPr>
              <a:t>Satisfaction = sum of priority scores across all visited attractions.</a:t>
            </a:r>
          </a:p>
          <a:p>
            <a:r>
              <a:rPr sz="2000" dirty="0">
                <a:solidFill>
                  <a:srgbClr val="333333"/>
                </a:solidFill>
              </a:rPr>
              <a:t>The planner must balance quality and feasibility at the same time.</a:t>
            </a:r>
          </a:p>
          <a:p>
            <a:r>
              <a:rPr sz="2000" dirty="0">
                <a:solidFill>
                  <a:srgbClr val="333333"/>
                </a:solidFill>
              </a:rPr>
              <a:t>Related to the Orienteering Problem with Time Windows (OPTW), with extra multi-day and budget dimensions (NP-hard in general).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91948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9604" y="1974553"/>
            <a:ext cx="7072792" cy="3352288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Attractions (N items), each with: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ID, category, coordinates (x, y)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Cost, visit duration, priority score (1-10)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Opening and closing time</a:t>
            </a:r>
          </a:p>
          <a:p>
            <a:r>
              <a:rPr sz="2000" dirty="0">
                <a:solidFill>
                  <a:srgbClr val="333333"/>
                </a:solidFill>
              </a:rPr>
              <a:t>Travel-time matrix: (N+1) x (N+1), including a 'hotel' node.</a:t>
            </a:r>
          </a:p>
          <a:p>
            <a:r>
              <a:rPr sz="2000" dirty="0">
                <a:solidFill>
                  <a:srgbClr val="333333"/>
                </a:solidFill>
              </a:rPr>
              <a:t>Trip configuration: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Total budget, number of days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Daily start / end time, max waiting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796276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Hard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6519" y="2559115"/>
            <a:ext cx="7438961" cy="3056172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Every plan must satisfy: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Total cost &lt;= budget (</a:t>
            </a:r>
            <a:r>
              <a:rPr lang="en-US" sz="1800" dirty="0">
                <a:solidFill>
                  <a:srgbClr val="333333"/>
                </a:solidFill>
              </a:rPr>
              <a:t>o</a:t>
            </a:r>
            <a:r>
              <a:rPr sz="1800" dirty="0">
                <a:solidFill>
                  <a:srgbClr val="333333"/>
                </a:solidFill>
              </a:rPr>
              <a:t>ver_budget)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Visit finishes before </a:t>
            </a:r>
            <a:r>
              <a:rPr lang="en-US" sz="1800" dirty="0">
                <a:solidFill>
                  <a:srgbClr val="333333"/>
                </a:solidFill>
              </a:rPr>
              <a:t>closing_time</a:t>
            </a:r>
            <a:r>
              <a:rPr sz="1800" dirty="0">
                <a:solidFill>
                  <a:srgbClr val="333333"/>
                </a:solidFill>
              </a:rPr>
              <a:t>(</a:t>
            </a:r>
            <a:r>
              <a:rPr lang="en-US" altLang="zh-CN" sz="1800" dirty="0">
                <a:solidFill>
                  <a:srgbClr val="333333"/>
                </a:solidFill>
              </a:rPr>
              <a:t>closed_before_visit_end</a:t>
            </a:r>
            <a:r>
              <a:rPr sz="1800" dirty="0">
                <a:solidFill>
                  <a:srgbClr val="333333"/>
                </a:solidFill>
              </a:rPr>
              <a:t>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Waiting time &lt;= ma</a:t>
            </a:r>
            <a:r>
              <a:rPr lang="en-US" sz="1800" dirty="0">
                <a:solidFill>
                  <a:srgbClr val="333333"/>
                </a:solidFill>
              </a:rPr>
              <a:t>x</a:t>
            </a:r>
            <a:r>
              <a:rPr sz="1800" dirty="0">
                <a:solidFill>
                  <a:srgbClr val="333333"/>
                </a:solidFill>
              </a:rPr>
              <a:t>_w</a:t>
            </a:r>
            <a:r>
              <a:rPr lang="en-US" sz="1800" dirty="0">
                <a:solidFill>
                  <a:srgbClr val="333333"/>
                </a:solidFill>
              </a:rPr>
              <a:t>a</a:t>
            </a:r>
            <a:r>
              <a:rPr sz="1800" dirty="0">
                <a:solidFill>
                  <a:srgbClr val="333333"/>
                </a:solidFill>
              </a:rPr>
              <a:t>it_m</a:t>
            </a:r>
            <a:r>
              <a:rPr lang="en-US" sz="1800" dirty="0">
                <a:solidFill>
                  <a:srgbClr val="333333"/>
                </a:solidFill>
              </a:rPr>
              <a:t>i</a:t>
            </a:r>
            <a:r>
              <a:rPr sz="1800" dirty="0">
                <a:solidFill>
                  <a:srgbClr val="333333"/>
                </a:solidFill>
              </a:rPr>
              <a:t>nutes (</a:t>
            </a:r>
            <a:r>
              <a:rPr lang="en-US" altLang="zh-CN" sz="1800" dirty="0">
                <a:solidFill>
                  <a:srgbClr val="333333"/>
                </a:solidFill>
              </a:rPr>
              <a:t>too_much_waiting</a:t>
            </a:r>
            <a:r>
              <a:rPr sz="1800" dirty="0">
                <a:solidFill>
                  <a:srgbClr val="333333"/>
                </a:solidFill>
              </a:rPr>
              <a:t>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Can return to hotel before day_end (cannot_return_to_hotel)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Each attraction visited at most once</a:t>
            </a:r>
          </a:p>
          <a:p>
            <a:r>
              <a:rPr sz="2000" dirty="0">
                <a:solidFill>
                  <a:srgbClr val="333333"/>
                </a:solidFill>
              </a:rPr>
              <a:t>A high-scoring itinerary is useless if it cannot actually be followed.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>
                <a:solidFill>
                  <a:srgbClr val="1F3A5F"/>
                </a:solidFill>
              </a:rPr>
              <a:t>Dataset Design (Synthetic)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05236"/>
            <a:ext cx="8229600" cy="4525963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Synthetic data - reproducible and free of external API dependencies.</a:t>
            </a:r>
          </a:p>
          <a:p>
            <a:r>
              <a:rPr sz="2000" dirty="0">
                <a:solidFill>
                  <a:srgbClr val="333333"/>
                </a:solidFill>
              </a:rPr>
              <a:t>Six attraction categories: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museum, park, restaurant, landmark, market, entertainment</a:t>
            </a:r>
          </a:p>
          <a:p>
            <a:r>
              <a:rPr sz="2000" dirty="0">
                <a:solidFill>
                  <a:srgbClr val="333333"/>
                </a:solidFill>
              </a:rPr>
              <a:t>Each category has its own pattern for cost, duration, opening hours.</a:t>
            </a:r>
          </a:p>
          <a:p>
            <a:r>
              <a:rPr sz="2000" dirty="0">
                <a:solidFill>
                  <a:srgbClr val="333333"/>
                </a:solidFill>
              </a:rPr>
              <a:t>Spatial layout: 4 cluster centers simulate city districts; attractions placed around centers with a normal distribution.</a:t>
            </a:r>
          </a:p>
          <a:p>
            <a:r>
              <a:rPr sz="2000" dirty="0">
                <a:solidFill>
                  <a:srgbClr val="333333"/>
                </a:solidFill>
              </a:rPr>
              <a:t>Travel time: Euclidean distance / 30 km/h * 60 minutes.</a:t>
            </a:r>
          </a:p>
          <a:p>
            <a:r>
              <a:rPr sz="2000" dirty="0">
                <a:solidFill>
                  <a:srgbClr val="333333"/>
                </a:solidFill>
              </a:rPr>
              <a:t>Single seed (42) makes every experiment bitwise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36716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Algorithm 1: Greedy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5032" y="1931594"/>
            <a:ext cx="7661936" cy="3462753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At every step, pick the best currently feasible attraction.</a:t>
            </a:r>
          </a:p>
          <a:p>
            <a:r>
              <a:rPr sz="2000" dirty="0">
                <a:solidFill>
                  <a:srgbClr val="333333"/>
                </a:solidFill>
              </a:rPr>
              <a:t>Composite score: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0.40 x normalized priority score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0.35 x time efficiency (score per hour)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0.25 x cost efficiency (score per dollar)</a:t>
            </a:r>
          </a:p>
          <a:p>
            <a:r>
              <a:rPr sz="2000" dirty="0">
                <a:solidFill>
                  <a:srgbClr val="333333"/>
                </a:solidFill>
              </a:rPr>
              <a:t>Pros: fast, simple, easy to implement.</a:t>
            </a:r>
          </a:p>
          <a:p>
            <a:r>
              <a:rPr sz="2000" dirty="0">
                <a:solidFill>
                  <a:srgbClr val="333333"/>
                </a:solidFill>
              </a:rPr>
              <a:t>Cons: only one-step lookahead - can miss better global solutions (tends to over-pack Day 1 and starve later days).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93757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Algorithm 2: Beam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00909"/>
            <a:ext cx="8229600" cy="3505712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Keeps the top K partial itineraries in parallel (not just top 1).</a:t>
            </a:r>
          </a:p>
          <a:p>
            <a:r>
              <a:rPr sz="2000" dirty="0">
                <a:solidFill>
                  <a:srgbClr val="333333"/>
                </a:solidFill>
              </a:rPr>
              <a:t>State-level composite score: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Satisfaction + number of visits (primary drivers)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Travel efficiency + category diversity (quality)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Remaining budget (future-potential heuristic)</a:t>
            </a:r>
          </a:p>
          <a:p>
            <a:r>
              <a:rPr sz="2000" dirty="0">
                <a:solidFill>
                  <a:srgbClr val="333333"/>
                </a:solidFill>
              </a:rPr>
              <a:t>Same hard constraints as greedy via </a:t>
            </a:r>
            <a:r>
              <a:rPr sz="2000" dirty="0" err="1">
                <a:solidFill>
                  <a:srgbClr val="333333"/>
                </a:solidFill>
              </a:rPr>
              <a:t>check_feasibility</a:t>
            </a:r>
            <a:r>
              <a:rPr sz="2000" dirty="0">
                <a:solidFill>
                  <a:srgbClr val="333333"/>
                </a:solidFill>
              </a:rPr>
              <a:t>() - only the search strategy differs.</a:t>
            </a:r>
          </a:p>
          <a:p>
            <a:r>
              <a:rPr sz="2000" dirty="0">
                <a:solidFill>
                  <a:srgbClr val="333333"/>
                </a:solidFill>
              </a:rPr>
              <a:t>Exploring multiple promising paths avoids bad early commitments.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63072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391863"/>
            <a:ext cx="8229600" cy="3229550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Five scenarios stress different constraints: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easy: loose constraints, small instance (N=20)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standard: reference case (N=30, $200, 12h window)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tight_budget: budget is binding ($80)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tight_time: daily window is binding (10:00-17:00)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large_problem: scalability (N=50, 5 days)</a:t>
            </a:r>
          </a:p>
          <a:p>
            <a:r>
              <a:rPr sz="2000" dirty="0">
                <a:solidFill>
                  <a:srgbClr val="333333"/>
                </a:solidFill>
              </a:rPr>
              <a:t>Metrics: feasibility, visits, satisfaction, travel ratio, daily balance, diversity,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Results: Quality</a:t>
            </a:r>
          </a:p>
        </p:txBody>
      </p:sp>
      <p:pic>
        <p:nvPicPr>
          <p:cNvPr id="3" name="Picture 2" descr="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57600"/>
          </a:xfrm>
          <a:prstGeom prst="rect">
            <a:avLst/>
          </a:prstGeom>
        </p:spPr>
      </p:pic>
      <p:pic>
        <p:nvPicPr>
          <p:cNvPr id="4" name="Picture 3" descr="att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7607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07070"/>
                </a:solidFill>
              </a:rPr>
              <a:t>Total satisfaction (sum of priority scores)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07070"/>
                </a:solidFill>
              </a:rPr>
              <a:t>Number of attractions visited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77B4"/>
                </a:solidFill>
              </a:rPr>
              <a:t>Beam search matches or beats greedy on quality in 4/5 scenarios; the exception is tight_time.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Results: Runtime &amp; Efficiency</a:t>
            </a:r>
          </a:p>
        </p:txBody>
      </p:sp>
      <p:pic>
        <p:nvPicPr>
          <p:cNvPr id="3" name="Picture 2" descr="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57600"/>
          </a:xfrm>
          <a:prstGeom prst="rect">
            <a:avLst/>
          </a:prstGeom>
        </p:spPr>
      </p:pic>
      <p:pic>
        <p:nvPicPr>
          <p:cNvPr id="4" name="Picture 3" descr="travel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7607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07070"/>
                </a:solidFill>
              </a:rPr>
              <a:t>Runtime (log scale): beam is 7-30x slower than greedy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07070"/>
                </a:solidFill>
              </a:rPr>
              <a:t>Travel ratio: no consistent winner across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77B4"/>
                </a:solidFill>
              </a:rPr>
              <a:t>Beam search trades wall-clock time for plan quality; both planners produce travel-efficient itineraries.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48281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74276"/>
            <a:ext cx="8229600" cy="4525963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Beam search &gt;= greedy on easy, standard, tight_budget, large_problem.</a:t>
            </a:r>
          </a:p>
          <a:p>
            <a:r>
              <a:rPr sz="2000" dirty="0">
                <a:solidFill>
                  <a:srgbClr val="333333"/>
                </a:solidFill>
              </a:rPr>
              <a:t>Beam loses to greedy on tight_time (14 vs 15 visits, 94.6 vs 98.3).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Diagnosis: when time (not money) is the binding constraint, the remaining-budget heuristic pushes the beam to save money it cannot spend anyway.</a:t>
            </a:r>
          </a:p>
          <a:p>
            <a:r>
              <a:rPr sz="2000" dirty="0">
                <a:solidFill>
                  <a:srgbClr val="333333"/>
                </a:solidFill>
              </a:rPr>
              <a:t>All 10 runs produce feasible itineraries - zero validation violations.</a:t>
            </a:r>
          </a:p>
          <a:p>
            <a:r>
              <a:rPr sz="2000" dirty="0">
                <a:solidFill>
                  <a:srgbClr val="333333"/>
                </a:solidFill>
              </a:rPr>
              <a:t>Beam improves daily_balance (e.g. standard: [9,7,2] -&gt; [7,8,4]).</a:t>
            </a:r>
          </a:p>
          <a:p>
            <a:r>
              <a:rPr sz="2000" dirty="0">
                <a:solidFill>
                  <a:srgbClr val="333333"/>
                </a:solidFill>
              </a:rPr>
              <a:t>Runtime scales more aggressively for beam, as expected.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21924"/>
            <a:ext cx="8229600" cy="1143000"/>
          </a:xfrm>
        </p:spPr>
        <p:txBody>
          <a:bodyPr wrap="square"/>
          <a:lstStyle/>
          <a:p>
            <a:r>
              <a:rPr sz="3600" b="1" dirty="0">
                <a:solidFill>
                  <a:srgbClr val="1F3A5F"/>
                </a:solidFill>
              </a:rP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74552"/>
            <a:ext cx="8229600" cy="4525963"/>
          </a:xfrm>
        </p:spPr>
        <p:txBody>
          <a:bodyPr wrap="square"/>
          <a:lstStyle/>
          <a:p>
            <a:r>
              <a:rPr sz="2000" dirty="0">
                <a:solidFill>
                  <a:srgbClr val="333333"/>
                </a:solidFill>
              </a:rPr>
              <a:t>A complete prototype: data generation, feasibility-aware planning, independent validation, and comparative experiments.</a:t>
            </a:r>
          </a:p>
          <a:p>
            <a:r>
              <a:rPr sz="2000" dirty="0">
                <a:solidFill>
                  <a:srgbClr val="333333"/>
                </a:solidFill>
              </a:rPr>
              <a:t>Main takeaway: search breadth helps, but heuristic design matters.</a:t>
            </a:r>
          </a:p>
          <a:p>
            <a:r>
              <a:rPr sz="2000" dirty="0">
                <a:solidFill>
                  <a:srgbClr val="333333"/>
                </a:solidFill>
              </a:rPr>
              <a:t>Future directions: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Adaptive scoring weights (detect binding constraint per scenario)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Real data: OSM, Google Places, OSRM travel matrices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Learned user preferences instead of static priority scores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Stochastic travel + real-time re-planning</a:t>
            </a:r>
          </a:p>
          <a:p>
            <a:pPr lvl="1"/>
            <a:r>
              <a:rPr sz="1800" dirty="0">
                <a:solidFill>
                  <a:srgbClr val="333333"/>
                </a:solidFill>
              </a:rPr>
              <a:t>ILP/MIP baseline to quantify the optimality gap on small instances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882</Words>
  <Application>Microsoft Office PowerPoint</Application>
  <PresentationFormat>宽屏</PresentationFormat>
  <Paragraphs>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AI-Based Constrained Travel Itinerary Planning</vt:lpstr>
      <vt:lpstr>Why This Problem Matters</vt:lpstr>
      <vt:lpstr>Problem Definition</vt:lpstr>
      <vt:lpstr>Inputs</vt:lpstr>
      <vt:lpstr>Hard Constraints</vt:lpstr>
      <vt:lpstr>Dataset Design (Synthetic)</vt:lpstr>
      <vt:lpstr>Algorithm 1: Greedy Baseline</vt:lpstr>
      <vt:lpstr>Algorithm 2: Beam Search</vt:lpstr>
      <vt:lpstr>Experimental Setup</vt:lpstr>
      <vt:lpstr>PowerPoint 演示文稿</vt:lpstr>
      <vt:lpstr>PowerPoint 演示文稿</vt:lpstr>
      <vt:lpstr>Key Findings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岱岳 杨</cp:lastModifiedBy>
  <cp:revision>2</cp:revision>
  <dcterms:created xsi:type="dcterms:W3CDTF">2013-01-27T09:14:16Z</dcterms:created>
  <dcterms:modified xsi:type="dcterms:W3CDTF">2026-04-23T20:56:41Z</dcterms:modified>
  <cp:category/>
</cp:coreProperties>
</file>